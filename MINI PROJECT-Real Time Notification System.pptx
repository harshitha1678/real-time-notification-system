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Montserrat" panose="00000500000000000000" pitchFamily="2" charset="0"/>
      <p:regular r:id="rId8"/>
    </p:embeddedFont>
    <p:embeddedFont>
      <p:font typeface="Montserrat Bold" panose="020B0604020202020204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936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898322">
            <a:off x="13900910" y="-3648278"/>
            <a:ext cx="8774178" cy="8796169"/>
          </a:xfrm>
          <a:custGeom>
            <a:avLst/>
            <a:gdLst/>
            <a:ahLst/>
            <a:cxnLst/>
            <a:rect l="l" t="t" r="r" b="b"/>
            <a:pathLst>
              <a:path w="8774178" h="8796169">
                <a:moveTo>
                  <a:pt x="0" y="0"/>
                </a:moveTo>
                <a:lnTo>
                  <a:pt x="8774178" y="0"/>
                </a:lnTo>
                <a:lnTo>
                  <a:pt x="8774178" y="8796168"/>
                </a:lnTo>
                <a:lnTo>
                  <a:pt x="0" y="87961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463626" y="1621617"/>
            <a:ext cx="753561" cy="753561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600FE">
                    <a:alpha val="100000"/>
                  </a:srgbClr>
                </a:gs>
                <a:gs pos="25000">
                  <a:srgbClr val="C900FE">
                    <a:alpha val="100000"/>
                  </a:srgbClr>
                </a:gs>
                <a:gs pos="50000">
                  <a:srgbClr val="A136FF">
                    <a:alpha val="100000"/>
                  </a:srgbClr>
                </a:gs>
                <a:gs pos="75000">
                  <a:srgbClr val="5142F0">
                    <a:alpha val="100000"/>
                  </a:srgbClr>
                </a:gs>
                <a:gs pos="100000">
                  <a:srgbClr val="0033D9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367131" y="3742996"/>
            <a:ext cx="11221744" cy="2842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426"/>
              </a:lnSpc>
              <a:spcBef>
                <a:spcPct val="0"/>
              </a:spcBef>
            </a:pPr>
            <a:r>
              <a:rPr lang="en-US" sz="8161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Real-Time Notification System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4778711" y="7667323"/>
            <a:ext cx="1578921" cy="1578921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600FE">
                    <a:alpha val="100000"/>
                  </a:srgbClr>
                </a:gs>
                <a:gs pos="25000">
                  <a:srgbClr val="C900FE">
                    <a:alpha val="100000"/>
                  </a:srgbClr>
                </a:gs>
                <a:gs pos="50000">
                  <a:srgbClr val="A136FF">
                    <a:alpha val="100000"/>
                  </a:srgbClr>
                </a:gs>
                <a:gs pos="75000">
                  <a:srgbClr val="5142F0">
                    <a:alpha val="100000"/>
                  </a:srgbClr>
                </a:gs>
                <a:gs pos="100000">
                  <a:srgbClr val="0033D9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67131" y="7227854"/>
            <a:ext cx="7173539" cy="554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32"/>
              </a:lnSpc>
              <a:spcBef>
                <a:spcPct val="0"/>
              </a:spcBef>
            </a:pPr>
            <a:r>
              <a:rPr lang="en-US" sz="330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By S.Harshitha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37398" y="2896270"/>
            <a:ext cx="7406602" cy="8736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186"/>
              </a:lnSpc>
              <a:spcBef>
                <a:spcPct val="0"/>
              </a:spcBef>
            </a:pPr>
            <a:r>
              <a:rPr lang="en-US" sz="5132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Problem Statement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37398" y="4379511"/>
            <a:ext cx="12043635" cy="1216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85"/>
              </a:lnSpc>
              <a:spcBef>
                <a:spcPct val="0"/>
              </a:spcBef>
            </a:pPr>
            <a:r>
              <a:rPr lang="en-US" sz="2346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Traditional web applications depend on manual page refresh or repeated server polling to receive updates. This causes delays, increases server load, and provides a poor user experience.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37398" y="6693225"/>
            <a:ext cx="11443286" cy="18128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177" b="1">
                <a:solidFill>
                  <a:srgbClr val="10101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Proposed Solution:</a:t>
            </a:r>
          </a:p>
          <a:p>
            <a:pPr algn="l">
              <a:lnSpc>
                <a:spcPts val="2915"/>
              </a:lnSpc>
            </a:pPr>
            <a:r>
              <a:rPr lang="en-US" sz="2082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Develop a Real-Time Notification System using Spring Boot and WebSocket technology that allows users to receive instant notifications whenever a new message is generated</a:t>
            </a:r>
          </a:p>
          <a:p>
            <a:pPr marL="0" lvl="0" indent="0" algn="l">
              <a:lnSpc>
                <a:spcPts val="2915"/>
              </a:lnSpc>
              <a:spcBef>
                <a:spcPct val="0"/>
              </a:spcBef>
            </a:pPr>
            <a:endParaRPr lang="en-US" sz="2082">
              <a:solidFill>
                <a:srgbClr val="10101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0" y="0"/>
            <a:ext cx="18288000" cy="1874361"/>
            <a:chOff x="0" y="0"/>
            <a:chExt cx="9414331" cy="9648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414331" cy="964887"/>
            </a:xfrm>
            <a:custGeom>
              <a:avLst/>
              <a:gdLst/>
              <a:ahLst/>
              <a:cxnLst/>
              <a:rect l="l" t="t" r="r" b="b"/>
              <a:pathLst>
                <a:path w="9414331" h="964887">
                  <a:moveTo>
                    <a:pt x="0" y="0"/>
                  </a:moveTo>
                  <a:lnTo>
                    <a:pt x="9414331" y="0"/>
                  </a:lnTo>
                  <a:lnTo>
                    <a:pt x="9414331" y="964887"/>
                  </a:lnTo>
                  <a:lnTo>
                    <a:pt x="0" y="964887"/>
                  </a:lnTo>
                  <a:close/>
                </a:path>
              </a:pathLst>
            </a:custGeom>
            <a:gradFill rotWithShape="1">
              <a:gsLst>
                <a:gs pos="0">
                  <a:srgbClr val="F600FE">
                    <a:alpha val="100000"/>
                  </a:srgbClr>
                </a:gs>
                <a:gs pos="25000">
                  <a:srgbClr val="C900FE">
                    <a:alpha val="100000"/>
                  </a:srgbClr>
                </a:gs>
                <a:gs pos="50000">
                  <a:srgbClr val="A136FF">
                    <a:alpha val="100000"/>
                  </a:srgbClr>
                </a:gs>
                <a:gs pos="75000">
                  <a:srgbClr val="5142F0">
                    <a:alpha val="100000"/>
                  </a:srgbClr>
                </a:gs>
                <a:gs pos="100000">
                  <a:srgbClr val="0033D9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9414331" cy="10029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895350"/>
            <a:ext cx="7422867" cy="12518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0276"/>
              </a:lnSpc>
              <a:spcBef>
                <a:spcPct val="0"/>
              </a:spcBef>
            </a:pPr>
            <a:r>
              <a:rPr lang="en-US" sz="7340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Methodology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006668" y="2496746"/>
            <a:ext cx="9801273" cy="2646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7"/>
              </a:lnSpc>
            </a:pPr>
            <a:r>
              <a:rPr lang="en-US" sz="2176" b="1">
                <a:solidFill>
                  <a:srgbClr val="10101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System Workflow</a:t>
            </a:r>
          </a:p>
          <a:p>
            <a:pPr marL="469925" lvl="1" indent="-234963" algn="l">
              <a:lnSpc>
                <a:spcPts val="3047"/>
              </a:lnSpc>
              <a:buAutoNum type="arabicPeriod"/>
            </a:pPr>
            <a:r>
              <a:rPr lang="en-US" sz="2176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User enters a notification message.</a:t>
            </a:r>
          </a:p>
          <a:p>
            <a:pPr marL="469925" lvl="1" indent="-234963" algn="l">
              <a:lnSpc>
                <a:spcPts val="3047"/>
              </a:lnSpc>
              <a:buAutoNum type="arabicPeriod"/>
            </a:pPr>
            <a:r>
              <a:rPr lang="en-US" sz="2176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Frontend sends request to Spring Boot backend.</a:t>
            </a:r>
          </a:p>
          <a:p>
            <a:pPr marL="469925" lvl="1" indent="-234963" algn="l">
              <a:lnSpc>
                <a:spcPts val="3047"/>
              </a:lnSpc>
              <a:buAutoNum type="arabicPeriod"/>
            </a:pPr>
            <a:r>
              <a:rPr lang="en-US" sz="2176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Notification is stored in MySQL database.</a:t>
            </a:r>
          </a:p>
          <a:p>
            <a:pPr marL="469925" lvl="1" indent="-234963" algn="l">
              <a:lnSpc>
                <a:spcPts val="3047"/>
              </a:lnSpc>
              <a:buAutoNum type="arabicPeriod"/>
            </a:pPr>
            <a:r>
              <a:rPr lang="en-US" sz="2176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WebSocket broadcasts notification.</a:t>
            </a:r>
          </a:p>
          <a:p>
            <a:pPr marL="469925" lvl="1" indent="-234963" algn="l">
              <a:lnSpc>
                <a:spcPts val="3047"/>
              </a:lnSpc>
              <a:buAutoNum type="arabicPeriod"/>
            </a:pPr>
            <a:r>
              <a:rPr lang="en-US" sz="2176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Connected clients receive updates instantly.</a:t>
            </a:r>
          </a:p>
          <a:p>
            <a:pPr marL="0" lvl="0" indent="0" algn="l">
              <a:lnSpc>
                <a:spcPts val="3047"/>
              </a:lnSpc>
              <a:spcBef>
                <a:spcPct val="0"/>
              </a:spcBef>
            </a:pPr>
            <a:endParaRPr lang="en-US" sz="2176">
              <a:solidFill>
                <a:srgbClr val="10101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0" y="9645254"/>
            <a:ext cx="18638410" cy="641746"/>
            <a:chOff x="0" y="0"/>
            <a:chExt cx="4722294" cy="16259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722294" cy="162595"/>
            </a:xfrm>
            <a:custGeom>
              <a:avLst/>
              <a:gdLst/>
              <a:ahLst/>
              <a:cxnLst/>
              <a:rect l="l" t="t" r="r" b="b"/>
              <a:pathLst>
                <a:path w="4722294" h="162595">
                  <a:moveTo>
                    <a:pt x="0" y="0"/>
                  </a:moveTo>
                  <a:lnTo>
                    <a:pt x="4722294" y="0"/>
                  </a:lnTo>
                  <a:lnTo>
                    <a:pt x="4722294" y="162595"/>
                  </a:lnTo>
                  <a:lnTo>
                    <a:pt x="0" y="162595"/>
                  </a:lnTo>
                  <a:close/>
                </a:path>
              </a:pathLst>
            </a:custGeom>
            <a:gradFill rotWithShape="1">
              <a:gsLst>
                <a:gs pos="0">
                  <a:srgbClr val="F600FE">
                    <a:alpha val="100000"/>
                  </a:srgbClr>
                </a:gs>
                <a:gs pos="25000">
                  <a:srgbClr val="C900FE">
                    <a:alpha val="100000"/>
                  </a:srgbClr>
                </a:gs>
                <a:gs pos="50000">
                  <a:srgbClr val="A136FF">
                    <a:alpha val="100000"/>
                  </a:srgbClr>
                </a:gs>
                <a:gs pos="75000">
                  <a:srgbClr val="5142F0">
                    <a:alpha val="100000"/>
                  </a:srgbClr>
                </a:gs>
                <a:gs pos="100000">
                  <a:srgbClr val="0033D9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 cap="sq">
              <a:noFill/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722294" cy="200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711444" y="5095875"/>
            <a:ext cx="11563510" cy="3190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4"/>
              </a:lnSpc>
            </a:pPr>
            <a:r>
              <a:rPr lang="en-US" sz="2260" b="1">
                <a:solidFill>
                  <a:srgbClr val="10101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Technologies Used</a:t>
            </a:r>
          </a:p>
          <a:p>
            <a:pPr algn="l">
              <a:lnSpc>
                <a:spcPts val="3164"/>
              </a:lnSpc>
            </a:pPr>
            <a:r>
              <a:rPr lang="en-US" sz="2260" b="1">
                <a:solidFill>
                  <a:srgbClr val="10101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Layer                                                             Technology</a:t>
            </a:r>
          </a:p>
          <a:p>
            <a:pPr algn="l">
              <a:lnSpc>
                <a:spcPts val="3164"/>
              </a:lnSpc>
            </a:pPr>
            <a:r>
              <a:rPr lang="en-US" sz="2260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Frontend                                                     HTML, CSS, JavaScript</a:t>
            </a:r>
          </a:p>
          <a:p>
            <a:pPr algn="l">
              <a:lnSpc>
                <a:spcPts val="3164"/>
              </a:lnSpc>
            </a:pPr>
            <a:r>
              <a:rPr lang="en-US" sz="2260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Backend                                                      Spring Boot</a:t>
            </a:r>
          </a:p>
          <a:p>
            <a:pPr algn="l">
              <a:lnSpc>
                <a:spcPts val="3164"/>
              </a:lnSpc>
            </a:pPr>
            <a:r>
              <a:rPr lang="en-US" sz="2260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Database                                                     MySQL</a:t>
            </a:r>
          </a:p>
          <a:p>
            <a:pPr algn="l">
              <a:lnSpc>
                <a:spcPts val="3164"/>
              </a:lnSpc>
            </a:pPr>
            <a:r>
              <a:rPr lang="en-US" sz="2260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Real-Time Communication                   WebSocket</a:t>
            </a:r>
          </a:p>
          <a:p>
            <a:pPr algn="l">
              <a:lnSpc>
                <a:spcPts val="3164"/>
              </a:lnSpc>
            </a:pPr>
            <a:r>
              <a:rPr lang="en-US" sz="2260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Development Tool                                    VS Code</a:t>
            </a:r>
          </a:p>
          <a:p>
            <a:pPr marL="0" lvl="0" indent="0" algn="l">
              <a:lnSpc>
                <a:spcPts val="3164"/>
              </a:lnSpc>
              <a:spcBef>
                <a:spcPct val="0"/>
              </a:spcBef>
            </a:pPr>
            <a:endParaRPr lang="en-US" sz="2260">
              <a:solidFill>
                <a:srgbClr val="10101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13255904" y="1897380"/>
            <a:ext cx="0" cy="64922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8840193">
            <a:off x="-3729045" y="-2227295"/>
            <a:ext cx="5034543" cy="5398374"/>
          </a:xfrm>
          <a:custGeom>
            <a:avLst/>
            <a:gdLst/>
            <a:ahLst/>
            <a:cxnLst/>
            <a:rect l="l" t="t" r="r" b="b"/>
            <a:pathLst>
              <a:path w="9627545" h="9651674">
                <a:moveTo>
                  <a:pt x="0" y="0"/>
                </a:moveTo>
                <a:lnTo>
                  <a:pt x="9627545" y="0"/>
                </a:lnTo>
                <a:lnTo>
                  <a:pt x="9627545" y="9651674"/>
                </a:lnTo>
                <a:lnTo>
                  <a:pt x="0" y="96516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29400" y="3619500"/>
            <a:ext cx="9545795" cy="35616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9"/>
              </a:lnSpc>
            </a:pPr>
            <a:r>
              <a:rPr lang="en-US" sz="2256" b="1" dirty="0">
                <a:solidFill>
                  <a:srgbClr val="10101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✓ Real-time notifications delivered</a:t>
            </a:r>
          </a:p>
          <a:p>
            <a:pPr algn="l">
              <a:lnSpc>
                <a:spcPts val="3159"/>
              </a:lnSpc>
            </a:pPr>
            <a:endParaRPr lang="en-US" sz="2256" b="1" dirty="0">
              <a:solidFill>
                <a:srgbClr val="101010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3159"/>
              </a:lnSpc>
            </a:pPr>
            <a:r>
              <a:rPr lang="en-US" sz="2256" b="1" dirty="0">
                <a:solidFill>
                  <a:srgbClr val="10101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✓ Notifications stored in database</a:t>
            </a:r>
          </a:p>
          <a:p>
            <a:pPr algn="l">
              <a:lnSpc>
                <a:spcPts val="3159"/>
              </a:lnSpc>
            </a:pPr>
            <a:endParaRPr lang="en-US" sz="2256" b="1" dirty="0">
              <a:solidFill>
                <a:srgbClr val="101010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3159"/>
              </a:lnSpc>
            </a:pPr>
            <a:r>
              <a:rPr lang="en-US" sz="2256" b="1" dirty="0">
                <a:solidFill>
                  <a:srgbClr val="10101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✓ Multiple users receive updates</a:t>
            </a:r>
          </a:p>
          <a:p>
            <a:pPr algn="l">
              <a:lnSpc>
                <a:spcPts val="3159"/>
              </a:lnSpc>
            </a:pPr>
            <a:endParaRPr lang="en-US" sz="2256" b="1" dirty="0">
              <a:solidFill>
                <a:srgbClr val="101010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3159"/>
              </a:lnSpc>
            </a:pPr>
            <a:r>
              <a:rPr lang="en-US" sz="2256" b="1" dirty="0">
                <a:solidFill>
                  <a:srgbClr val="10101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✓ No page refresh required</a:t>
            </a:r>
          </a:p>
          <a:p>
            <a:pPr algn="l">
              <a:lnSpc>
                <a:spcPts val="3159"/>
              </a:lnSpc>
            </a:pPr>
            <a:endParaRPr lang="en-US" sz="2256" b="1" dirty="0">
              <a:solidFill>
                <a:srgbClr val="101010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marL="0" lvl="0" indent="0" algn="l">
              <a:lnSpc>
                <a:spcPts val="3159"/>
              </a:lnSpc>
              <a:spcBef>
                <a:spcPct val="0"/>
              </a:spcBef>
            </a:pPr>
            <a:r>
              <a:rPr lang="en-US" sz="2256" b="1" dirty="0">
                <a:solidFill>
                  <a:srgbClr val="10101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✓ Improved communication speed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29399" y="1333500"/>
            <a:ext cx="9545795" cy="11136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41"/>
              </a:lnSpc>
            </a:pPr>
            <a:r>
              <a:rPr lang="en-US" sz="7368" b="1" dirty="0">
                <a:solidFill>
                  <a:srgbClr val="10101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Results/outcomes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8362" cy="5143500"/>
          </a:xfrm>
          <a:custGeom>
            <a:avLst/>
            <a:gdLst/>
            <a:ahLst/>
            <a:cxnLst/>
            <a:rect l="l" t="t" r="r" b="b"/>
            <a:pathLst>
              <a:path w="9758362" h="5143500">
                <a:moveTo>
                  <a:pt x="0" y="0"/>
                </a:moveTo>
                <a:lnTo>
                  <a:pt x="9758362" y="0"/>
                </a:lnTo>
                <a:lnTo>
                  <a:pt x="9758362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4988359"/>
            <a:ext cx="9758362" cy="5298641"/>
          </a:xfrm>
          <a:custGeom>
            <a:avLst/>
            <a:gdLst/>
            <a:ahLst/>
            <a:cxnLst/>
            <a:rect l="l" t="t" r="r" b="b"/>
            <a:pathLst>
              <a:path w="9758362" h="5298641">
                <a:moveTo>
                  <a:pt x="0" y="0"/>
                </a:moveTo>
                <a:lnTo>
                  <a:pt x="9758362" y="0"/>
                </a:lnTo>
                <a:lnTo>
                  <a:pt x="9758362" y="5298641"/>
                </a:lnTo>
                <a:lnTo>
                  <a:pt x="0" y="52986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76" r="-2039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735502" y="0"/>
            <a:ext cx="8552498" cy="4988359"/>
          </a:xfrm>
          <a:custGeom>
            <a:avLst/>
            <a:gdLst/>
            <a:ahLst/>
            <a:cxnLst/>
            <a:rect l="l" t="t" r="r" b="b"/>
            <a:pathLst>
              <a:path w="9801894" h="5298641">
                <a:moveTo>
                  <a:pt x="0" y="0"/>
                </a:moveTo>
                <a:lnTo>
                  <a:pt x="9801895" y="0"/>
                </a:lnTo>
                <a:lnTo>
                  <a:pt x="9801895" y="5298641"/>
                </a:lnTo>
                <a:lnTo>
                  <a:pt x="0" y="52986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58"/>
            </a:stretch>
          </a:blipFill>
        </p:spPr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86D6C8-951E-A8BC-44F6-69728B1ABD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502" y="4988359"/>
            <a:ext cx="8552498" cy="52986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335000" y="-1333500"/>
            <a:ext cx="7007935" cy="5394790"/>
          </a:xfrm>
          <a:custGeom>
            <a:avLst/>
            <a:gdLst/>
            <a:ahLst/>
            <a:cxnLst/>
            <a:rect l="l" t="t" r="r" b="b"/>
            <a:pathLst>
              <a:path w="9898854" h="8599630">
                <a:moveTo>
                  <a:pt x="0" y="0"/>
                </a:moveTo>
                <a:lnTo>
                  <a:pt x="9898854" y="0"/>
                </a:lnTo>
                <a:lnTo>
                  <a:pt x="9898854" y="8599629"/>
                </a:lnTo>
                <a:lnTo>
                  <a:pt x="0" y="859962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975262" y="2090415"/>
            <a:ext cx="8525731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841"/>
              </a:lnSpc>
              <a:spcBef>
                <a:spcPct val="0"/>
              </a:spcBef>
            </a:pPr>
            <a:r>
              <a:rPr lang="en-US" sz="7368" b="1">
                <a:solidFill>
                  <a:srgbClr val="10101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Conclusion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005423" y="3466106"/>
            <a:ext cx="9870605" cy="2523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51"/>
              </a:lnSpc>
            </a:pPr>
            <a:r>
              <a:rPr lang="en-US" sz="2465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The Real-Time Notification System was successfully developed using Spring Boot, WebSocket, MySQL,HTML, CSS, and JavaScript.</a:t>
            </a:r>
          </a:p>
          <a:p>
            <a:pPr algn="l">
              <a:lnSpc>
                <a:spcPts val="3293"/>
              </a:lnSpc>
            </a:pPr>
            <a:endParaRPr lang="en-US" sz="2465">
              <a:solidFill>
                <a:srgbClr val="10101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l">
              <a:lnSpc>
                <a:spcPts val="3293"/>
              </a:lnSpc>
            </a:pPr>
            <a:r>
              <a:rPr lang="en-US" sz="2352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The system provides instant notification delivery and improves</a:t>
            </a:r>
          </a:p>
          <a:p>
            <a:pPr marL="0" lvl="0" indent="0" algn="l">
              <a:lnSpc>
                <a:spcPts val="3293"/>
              </a:lnSpc>
              <a:spcBef>
                <a:spcPct val="0"/>
              </a:spcBef>
            </a:pPr>
            <a:r>
              <a:rPr lang="en-US" sz="2352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user experience through real-time communication.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186</Words>
  <Application>Microsoft Office PowerPoint</Application>
  <PresentationFormat>Custom</PresentationFormat>
  <Paragraphs>35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Montserrat</vt:lpstr>
      <vt:lpstr>Montserrat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Violet Professional Modern Technology Pitch Deck Presentation</dc:title>
  <dc:creator>Harshice</dc:creator>
  <cp:lastModifiedBy>Admin</cp:lastModifiedBy>
  <cp:revision>4</cp:revision>
  <dcterms:created xsi:type="dcterms:W3CDTF">2006-08-16T00:00:00Z</dcterms:created>
  <dcterms:modified xsi:type="dcterms:W3CDTF">2026-06-25T05:07:07Z</dcterms:modified>
  <dc:identifier>DAHNjBG4Oe4</dc:identifier>
</cp:coreProperties>
</file>