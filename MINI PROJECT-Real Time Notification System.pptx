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Montserrat" panose="00000500000000000000" pitchFamily="2" charset="0"/>
      <p:regular r:id="rId8"/>
    </p:embeddedFont>
    <p:embeddedFont>
      <p:font typeface="Montserrat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322">
            <a:off x="13900910" y="-3648278"/>
            <a:ext cx="8774178" cy="8796169"/>
          </a:xfrm>
          <a:custGeom>
            <a:avLst/>
            <a:gdLst/>
            <a:ahLst/>
            <a:cxnLst/>
            <a:rect l="l" t="t" r="r" b="b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463626" y="1621617"/>
            <a:ext cx="753561" cy="75356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67131" y="3742996"/>
            <a:ext cx="11221744" cy="284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26"/>
              </a:lnSpc>
              <a:spcBef>
                <a:spcPct val="0"/>
              </a:spcBef>
            </a:pPr>
            <a:r>
              <a:rPr lang="en-US" sz="8161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Real-Time Notification System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778711" y="7667323"/>
            <a:ext cx="1578921" cy="157892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67131" y="7227854"/>
            <a:ext cx="7173539" cy="5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2"/>
              </a:lnSpc>
              <a:spcBef>
                <a:spcPct val="0"/>
              </a:spcBef>
            </a:pPr>
            <a:r>
              <a:rPr lang="en-US" sz="330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By S.Harshitha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37398" y="2896270"/>
            <a:ext cx="7406602" cy="873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86"/>
              </a:lnSpc>
              <a:spcBef>
                <a:spcPct val="0"/>
              </a:spcBef>
            </a:pPr>
            <a:r>
              <a:rPr lang="en-US" sz="513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37398" y="4379511"/>
            <a:ext cx="12043635" cy="1216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85"/>
              </a:lnSpc>
              <a:spcBef>
                <a:spcPct val="0"/>
              </a:spcBef>
            </a:pPr>
            <a:r>
              <a:rPr lang="en-US" sz="2346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Traditional web applications depend on manual page refresh or repeated server polling to receive updates. This causes delays, increases server load, and provides a poor user experience.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7398" y="6693225"/>
            <a:ext cx="11443286" cy="181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177" b="1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Proposed Solution:</a:t>
            </a:r>
          </a:p>
          <a:p>
            <a:pPr algn="l">
              <a:lnSpc>
                <a:spcPts val="2915"/>
              </a:lnSpc>
            </a:pPr>
            <a:r>
              <a:rPr lang="en-US" sz="2082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Develop a Real-Time Notification System using Spring Boot and WebSocket technology that allows users to receive instant notifications whenever a new message is generated</a:t>
            </a:r>
          </a:p>
          <a:p>
            <a:pPr marL="0" lvl="0" indent="0" algn="l">
              <a:lnSpc>
                <a:spcPts val="2915"/>
              </a:lnSpc>
              <a:spcBef>
                <a:spcPct val="0"/>
              </a:spcBef>
            </a:pPr>
            <a:endParaRPr lang="en-US" sz="2082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95350"/>
            <a:ext cx="7422867" cy="125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0276"/>
              </a:lnSpc>
              <a:spcBef>
                <a:spcPct val="0"/>
              </a:spcBef>
            </a:pPr>
            <a:r>
              <a:rPr lang="en-US" sz="734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Methodology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06668" y="2496746"/>
            <a:ext cx="9801273" cy="264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176" b="1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Workflow</a:t>
            </a:r>
          </a:p>
          <a:p>
            <a:pPr marL="469925" lvl="1" indent="-234963" algn="l">
              <a:lnSpc>
                <a:spcPts val="3047"/>
              </a:lnSpc>
              <a:buAutoNum type="arabicPeriod"/>
            </a:pPr>
            <a:r>
              <a:rPr lang="en-US" sz="2176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User enters a notification message.</a:t>
            </a:r>
          </a:p>
          <a:p>
            <a:pPr marL="469925" lvl="1" indent="-234963" algn="l">
              <a:lnSpc>
                <a:spcPts val="3047"/>
              </a:lnSpc>
              <a:buAutoNum type="arabicPeriod"/>
            </a:pPr>
            <a:r>
              <a:rPr lang="en-US" sz="2176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Frontend sends request to Spring Boot backend.</a:t>
            </a:r>
          </a:p>
          <a:p>
            <a:pPr marL="469925" lvl="1" indent="-234963" algn="l">
              <a:lnSpc>
                <a:spcPts val="3047"/>
              </a:lnSpc>
              <a:buAutoNum type="arabicPeriod"/>
            </a:pPr>
            <a:r>
              <a:rPr lang="en-US" sz="2176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Notification is stored in MySQL database.</a:t>
            </a:r>
          </a:p>
          <a:p>
            <a:pPr marL="469925" lvl="1" indent="-234963" algn="l">
              <a:lnSpc>
                <a:spcPts val="3047"/>
              </a:lnSpc>
              <a:buAutoNum type="arabicPeriod"/>
            </a:pPr>
            <a:r>
              <a:rPr lang="en-US" sz="2176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WebSocket broadcasts notification.</a:t>
            </a:r>
          </a:p>
          <a:p>
            <a:pPr marL="469925" lvl="1" indent="-234963" algn="l">
              <a:lnSpc>
                <a:spcPts val="3047"/>
              </a:lnSpc>
              <a:buAutoNum type="arabicPeriod"/>
            </a:pPr>
            <a:r>
              <a:rPr lang="en-US" sz="2176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Connected clients receive updates instantly.</a:t>
            </a:r>
          </a:p>
          <a:p>
            <a:pPr marL="0" lvl="0" indent="0" algn="l">
              <a:lnSpc>
                <a:spcPts val="3047"/>
              </a:lnSpc>
              <a:spcBef>
                <a:spcPct val="0"/>
              </a:spcBef>
            </a:pPr>
            <a:endParaRPr lang="en-US" sz="2176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9645254"/>
            <a:ext cx="18638410" cy="641746"/>
            <a:chOff x="0" y="0"/>
            <a:chExt cx="4722294" cy="1625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22294" cy="162595"/>
            </a:xfrm>
            <a:custGeom>
              <a:avLst/>
              <a:gdLst/>
              <a:ahLst/>
              <a:cxnLst/>
              <a:rect l="l" t="t" r="r" b="b"/>
              <a:pathLst>
                <a:path w="4722294" h="162595">
                  <a:moveTo>
                    <a:pt x="0" y="0"/>
                  </a:moveTo>
                  <a:lnTo>
                    <a:pt x="4722294" y="0"/>
                  </a:lnTo>
                  <a:lnTo>
                    <a:pt x="4722294" y="162595"/>
                  </a:lnTo>
                  <a:lnTo>
                    <a:pt x="0" y="162595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722294" cy="200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11444" y="5095875"/>
            <a:ext cx="11563510" cy="3190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260" b="1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Technologies Used</a:t>
            </a:r>
          </a:p>
          <a:p>
            <a:pPr algn="l">
              <a:lnSpc>
                <a:spcPts val="3164"/>
              </a:lnSpc>
            </a:pPr>
            <a:r>
              <a:rPr lang="en-US" sz="2260" b="1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Layer                                                             Technology</a:t>
            </a:r>
          </a:p>
          <a:p>
            <a:pPr algn="l">
              <a:lnSpc>
                <a:spcPts val="3164"/>
              </a:lnSpc>
            </a:pPr>
            <a:r>
              <a:rPr lang="en-US" sz="226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Frontend                                                     HTML, CSS, JavaScript</a:t>
            </a:r>
          </a:p>
          <a:p>
            <a:pPr algn="l">
              <a:lnSpc>
                <a:spcPts val="3164"/>
              </a:lnSpc>
            </a:pPr>
            <a:r>
              <a:rPr lang="en-US" sz="226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Backend                                                      Spring Boot</a:t>
            </a:r>
          </a:p>
          <a:p>
            <a:pPr algn="l">
              <a:lnSpc>
                <a:spcPts val="3164"/>
              </a:lnSpc>
            </a:pPr>
            <a:r>
              <a:rPr lang="en-US" sz="226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Database                                                     MySQL</a:t>
            </a:r>
          </a:p>
          <a:p>
            <a:pPr algn="l">
              <a:lnSpc>
                <a:spcPts val="3164"/>
              </a:lnSpc>
            </a:pPr>
            <a:r>
              <a:rPr lang="en-US" sz="226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Real-Time Communication                   WebSocket</a:t>
            </a:r>
          </a:p>
          <a:p>
            <a:pPr algn="l">
              <a:lnSpc>
                <a:spcPts val="3164"/>
              </a:lnSpc>
            </a:pPr>
            <a:r>
              <a:rPr lang="en-US" sz="226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Development Tool                                    VS Code</a:t>
            </a:r>
          </a:p>
          <a:p>
            <a:pPr marL="0" lvl="0" indent="0" algn="l">
              <a:lnSpc>
                <a:spcPts val="3164"/>
              </a:lnSpc>
              <a:spcBef>
                <a:spcPct val="0"/>
              </a:spcBef>
            </a:pPr>
            <a:endParaRPr lang="en-US" sz="226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3255904" y="1897380"/>
            <a:ext cx="0" cy="64922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840193">
            <a:off x="-3729045" y="-2227295"/>
            <a:ext cx="5034543" cy="5398374"/>
          </a:xfrm>
          <a:custGeom>
            <a:avLst/>
            <a:gdLst/>
            <a:ahLst/>
            <a:cxnLst/>
            <a:rect l="l" t="t" r="r" b="b"/>
            <a:pathLst>
              <a:path w="9627545" h="9651674">
                <a:moveTo>
                  <a:pt x="0" y="0"/>
                </a:moveTo>
                <a:lnTo>
                  <a:pt x="9627545" y="0"/>
                </a:lnTo>
                <a:lnTo>
                  <a:pt x="9627545" y="9651674"/>
                </a:lnTo>
                <a:lnTo>
                  <a:pt x="0" y="9651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629400" y="3619500"/>
            <a:ext cx="9545795" cy="3561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✓ Real-time notifications delivered</a:t>
            </a:r>
          </a:p>
          <a:p>
            <a:pPr algn="l">
              <a:lnSpc>
                <a:spcPts val="3159"/>
              </a:lnSpc>
            </a:pPr>
            <a:endParaRPr lang="en-US" sz="2256" b="1" dirty="0">
              <a:solidFill>
                <a:srgbClr val="10101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159"/>
              </a:lnSpc>
            </a:pPr>
            <a:r>
              <a:rPr lang="en-US" sz="2256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✓ Notifications stored in database</a:t>
            </a:r>
          </a:p>
          <a:p>
            <a:pPr algn="l">
              <a:lnSpc>
                <a:spcPts val="3159"/>
              </a:lnSpc>
            </a:pPr>
            <a:endParaRPr lang="en-US" sz="2256" b="1" dirty="0">
              <a:solidFill>
                <a:srgbClr val="10101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159"/>
              </a:lnSpc>
            </a:pPr>
            <a:r>
              <a:rPr lang="en-US" sz="2256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✓ Multiple users receive updates</a:t>
            </a:r>
          </a:p>
          <a:p>
            <a:pPr algn="l">
              <a:lnSpc>
                <a:spcPts val="3159"/>
              </a:lnSpc>
            </a:pPr>
            <a:endParaRPr lang="en-US" sz="2256" b="1" dirty="0">
              <a:solidFill>
                <a:srgbClr val="10101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159"/>
              </a:lnSpc>
            </a:pPr>
            <a:r>
              <a:rPr lang="en-US" sz="2256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✓ No page refresh required</a:t>
            </a:r>
          </a:p>
          <a:p>
            <a:pPr algn="l">
              <a:lnSpc>
                <a:spcPts val="3159"/>
              </a:lnSpc>
            </a:pPr>
            <a:endParaRPr lang="en-US" sz="2256" b="1" dirty="0">
              <a:solidFill>
                <a:srgbClr val="10101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0" lvl="0" indent="0" algn="l">
              <a:lnSpc>
                <a:spcPts val="3159"/>
              </a:lnSpc>
              <a:spcBef>
                <a:spcPct val="0"/>
              </a:spcBef>
            </a:pPr>
            <a:r>
              <a:rPr lang="en-US" sz="2256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✓ Improved communication speed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29399" y="1333500"/>
            <a:ext cx="9545795" cy="111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41"/>
              </a:lnSpc>
            </a:pPr>
            <a:r>
              <a:rPr lang="en-US" sz="7368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Results/outcomes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8362" cy="5143500"/>
          </a:xfrm>
          <a:custGeom>
            <a:avLst/>
            <a:gdLst/>
            <a:ahLst/>
            <a:cxnLst/>
            <a:rect l="l" t="t" r="r" b="b"/>
            <a:pathLst>
              <a:path w="9758362" h="5143500">
                <a:moveTo>
                  <a:pt x="0" y="0"/>
                </a:moveTo>
                <a:lnTo>
                  <a:pt x="9758362" y="0"/>
                </a:lnTo>
                <a:lnTo>
                  <a:pt x="9758362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35502" y="0"/>
            <a:ext cx="8552498" cy="4988359"/>
          </a:xfrm>
          <a:custGeom>
            <a:avLst/>
            <a:gdLst/>
            <a:ahLst/>
            <a:cxnLst/>
            <a:rect l="l" t="t" r="r" b="b"/>
            <a:pathLst>
              <a:path w="9801894" h="5298641">
                <a:moveTo>
                  <a:pt x="0" y="0"/>
                </a:moveTo>
                <a:lnTo>
                  <a:pt x="9801895" y="0"/>
                </a:lnTo>
                <a:lnTo>
                  <a:pt x="9801895" y="5298641"/>
                </a:lnTo>
                <a:lnTo>
                  <a:pt x="0" y="5298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58"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86D6C8-951E-A8BC-44F6-69728B1ABD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502" y="4988359"/>
            <a:ext cx="8552498" cy="52986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5E4437-D940-1936-EDD3-E641D628A3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988358"/>
            <a:ext cx="9735502" cy="52986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35000" y="-1333500"/>
            <a:ext cx="7007935" cy="5394790"/>
          </a:xfrm>
          <a:custGeom>
            <a:avLst/>
            <a:gdLst/>
            <a:ahLst/>
            <a:cxnLst/>
            <a:rect l="l" t="t" r="r" b="b"/>
            <a:pathLst>
              <a:path w="9898854" h="8599630">
                <a:moveTo>
                  <a:pt x="0" y="0"/>
                </a:moveTo>
                <a:lnTo>
                  <a:pt x="9898854" y="0"/>
                </a:lnTo>
                <a:lnTo>
                  <a:pt x="9898854" y="8599629"/>
                </a:lnTo>
                <a:lnTo>
                  <a:pt x="0" y="8599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75262" y="2090415"/>
            <a:ext cx="8525731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41"/>
              </a:lnSpc>
              <a:spcBef>
                <a:spcPct val="0"/>
              </a:spcBef>
            </a:pPr>
            <a:r>
              <a:rPr lang="en-US" sz="7368" b="1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05423" y="3466106"/>
            <a:ext cx="9870605" cy="2523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1"/>
              </a:lnSpc>
            </a:pPr>
            <a:r>
              <a:rPr lang="en-US" sz="2465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The Real-Time Notification System was successfully developed using Spring Boot, WebSocket, MySQL,HTML, CSS, and JavaScript.</a:t>
            </a:r>
          </a:p>
          <a:p>
            <a:pPr algn="l">
              <a:lnSpc>
                <a:spcPts val="3293"/>
              </a:lnSpc>
            </a:pPr>
            <a:endParaRPr lang="en-US" sz="2465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293"/>
              </a:lnSpc>
            </a:pPr>
            <a:r>
              <a:rPr lang="en-US" sz="2352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The system provides instant notification delivery and improves</a:t>
            </a:r>
          </a:p>
          <a:p>
            <a:pPr marL="0" lvl="0" indent="0" algn="l">
              <a:lnSpc>
                <a:spcPts val="3293"/>
              </a:lnSpc>
              <a:spcBef>
                <a:spcPct val="0"/>
              </a:spcBef>
            </a:pPr>
            <a:r>
              <a:rPr lang="en-US" sz="2352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user experience through real-time communication.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186</Words>
  <Application>Microsoft Office PowerPoint</Application>
  <PresentationFormat>Custom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Montserrat Bold</vt:lpstr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Violet Professional Modern Technology Pitch Deck Presentation</dc:title>
  <dc:creator>Harshice</dc:creator>
  <cp:lastModifiedBy>Admin</cp:lastModifiedBy>
  <cp:revision>5</cp:revision>
  <dcterms:created xsi:type="dcterms:W3CDTF">2006-08-16T00:00:00Z</dcterms:created>
  <dcterms:modified xsi:type="dcterms:W3CDTF">2026-06-25T05:16:53Z</dcterms:modified>
  <dc:identifier>DAHNjBG4Oe4</dc:identifier>
</cp:coreProperties>
</file>